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00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ABB12-B20F-4C52-857F-55AB7F610E4E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E084E-6B1C-4EDC-9D39-98A9272D8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2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AE084E-6B1C-4EDC-9D39-98A9272D80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4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4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162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80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78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26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84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2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3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52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15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68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150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92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96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80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73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6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PRINICPLES OF COMPILER DESIGN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</a:t>
            </a:r>
            <a:r>
              <a:rPr lang="en-US" b="1" u="sng" dirty="0" smtClean="0">
                <a:latin typeface="Arial Narrow" panose="020B0606020202030204" pitchFamily="34" charset="0"/>
              </a:rPr>
              <a:t>TYPE </a:t>
            </a:r>
            <a:r>
              <a:rPr lang="en-US" b="1" u="sng" dirty="0">
                <a:latin typeface="Arial Narrow" panose="020B0606020202030204" pitchFamily="34" charset="0"/>
              </a:rPr>
              <a:t>EXPRESSIONS IN SEMANTIC </a:t>
            </a:r>
            <a:r>
              <a:rPr lang="en-US" b="1" u="sng" dirty="0" smtClean="0">
                <a:latin typeface="Arial Narrow" panose="020B0606020202030204" pitchFamily="34" charset="0"/>
              </a:rPr>
              <a:t>ANALYSIS</a:t>
            </a:r>
            <a:endParaRPr lang="en-US" b="1" u="sng" dirty="0">
              <a:latin typeface="Arial Narrow" panose="020B0606020202030204" pitchFamily="34" charset="0"/>
            </a:endParaRPr>
          </a:p>
          <a:p>
            <a:pPr marL="0" indent="0">
              <a:buNone/>
            </a:pPr>
            <a:endParaRPr lang="en-US" b="1" u="sng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US" b="1" dirty="0"/>
              <a:t>NAME: </a:t>
            </a:r>
            <a:r>
              <a:rPr lang="en-US" b="1" dirty="0" err="1"/>
              <a:t>Dagmawi</a:t>
            </a:r>
            <a:r>
              <a:rPr lang="en-US" b="1" dirty="0"/>
              <a:t> </a:t>
            </a:r>
            <a:r>
              <a:rPr lang="en-US" b="1" dirty="0" err="1"/>
              <a:t>Taye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dirty="0" smtClean="0"/>
              <a:t>ID:BDU1505627</a:t>
            </a:r>
          </a:p>
          <a:p>
            <a:pPr marL="0" indent="0">
              <a:buNone/>
            </a:pPr>
            <a:r>
              <a:rPr lang="en-US" b="1" dirty="0" smtClean="0"/>
              <a:t>Sec=A</a:t>
            </a:r>
          </a:p>
          <a:p>
            <a:pPr marL="0" indent="0">
              <a:buNone/>
            </a:pPr>
            <a:r>
              <a:rPr lang="en-US" b="1" dirty="0" smtClean="0"/>
              <a:t>Q=#73</a:t>
            </a:r>
            <a:endParaRPr lang="en-US" b="1" dirty="0" smtClean="0"/>
          </a:p>
          <a:p>
            <a:pPr marL="0" lvl="0" indent="0">
              <a:buNone/>
            </a:pPr>
            <a:r>
              <a:rPr lang="en-US" sz="2000" b="1" dirty="0">
                <a:solidFill>
                  <a:srgbClr val="0F1115"/>
                </a:solidFill>
                <a:latin typeface="Calisto MT" panose="02040603050505030304" pitchFamily="18" charset="0"/>
                <a:ea typeface="Times New Roman" panose="02020603050405020304" pitchFamily="18" charset="0"/>
                <a:cs typeface="Courier New" panose="02070309020205020404" pitchFamily="49" charset="0"/>
              </a:rPr>
              <a:t>TOPIC TITLE </a:t>
            </a:r>
            <a:r>
              <a:rPr lang="en-US" sz="2000" b="1" dirty="0">
                <a:solidFill>
                  <a:srgbClr val="0F11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 What are Type Expressions?</a:t>
            </a:r>
            <a:r>
              <a:rPr lang="en-US" sz="900" b="1" dirty="0"/>
              <a:t> </a:t>
            </a:r>
            <a:endParaRPr lang="en-US" sz="6600" b="1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b="1" u="sng" dirty="0">
              <a:latin typeface="Arial Narrow" panose="020B060602020203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182433"/>
            <a:ext cx="17634" cy="923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/>
              <a:t>I</a:t>
            </a:r>
            <a:r>
              <a:rPr b="1" i="1" dirty="0" smtClean="0"/>
              <a:t>ntroduction</a:t>
            </a:r>
            <a:endParaRPr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/>
              <a:t>What are Type Expressions</a:t>
            </a:r>
            <a:r>
              <a:rPr lang="en-US" sz="4800" b="1" dirty="0" smtClean="0"/>
              <a:t>?</a:t>
            </a:r>
            <a:endParaRPr lang="en-US" sz="4800" b="1" dirty="0"/>
          </a:p>
          <a:p>
            <a:pPr lvl="0"/>
            <a:r>
              <a:rPr lang="en-US" sz="4800" b="1" dirty="0"/>
              <a:t>Formal representations</a:t>
            </a:r>
            <a:r>
              <a:rPr lang="en-US" sz="4800" dirty="0"/>
              <a:t> of data types used during semantic </a:t>
            </a:r>
            <a:r>
              <a:rPr lang="en-US" sz="4800" dirty="0" smtClean="0"/>
              <a:t>analysis</a:t>
            </a:r>
          </a:p>
          <a:p>
            <a:pPr marL="0" lvl="0" indent="0">
              <a:buNone/>
            </a:pPr>
            <a:r>
              <a:rPr lang="en-US" sz="4800" i="1" dirty="0" smtClean="0">
                <a:solidFill>
                  <a:srgbClr val="0F1115"/>
                </a:solidFill>
                <a:latin typeface="quote-cjk-patch"/>
              </a:rPr>
              <a:t>-When </a:t>
            </a:r>
            <a:r>
              <a:rPr lang="en-US" sz="4800" i="1" dirty="0">
                <a:solidFill>
                  <a:srgbClr val="0F1115"/>
                </a:solidFill>
                <a:latin typeface="quote-cjk-patch"/>
              </a:rPr>
              <a:t>you </a:t>
            </a:r>
            <a:r>
              <a:rPr lang="en-US" sz="4800" i="1" dirty="0" smtClean="0">
                <a:solidFill>
                  <a:srgbClr val="0F1115"/>
                </a:solidFill>
                <a:latin typeface="quote-cjk-patch"/>
              </a:rPr>
              <a:t>write </a:t>
            </a:r>
            <a:r>
              <a:rPr lang="en-US" sz="4800" i="1" dirty="0" err="1" smtClean="0">
                <a:solidFill>
                  <a:srgbClr val="0F1115"/>
                </a:solidFill>
                <a:latin typeface="quote-cjk-patch"/>
              </a:rPr>
              <a:t>int</a:t>
            </a:r>
            <a:r>
              <a:rPr lang="en-US" sz="4800" i="1" dirty="0" smtClean="0">
                <a:solidFill>
                  <a:srgbClr val="0F1115"/>
                </a:solidFill>
                <a:latin typeface="quote-cjk-patch"/>
              </a:rPr>
              <a:t> x=5;the </a:t>
            </a:r>
            <a:r>
              <a:rPr lang="en-US" sz="4800" i="1" dirty="0">
                <a:solidFill>
                  <a:srgbClr val="0F1115"/>
                </a:solidFill>
                <a:latin typeface="quote-cjk-patch"/>
              </a:rPr>
              <a:t>compiler doesn't just see the word "</a:t>
            </a:r>
            <a:r>
              <a:rPr lang="en-US" sz="4800" i="1" dirty="0" err="1" smtClean="0">
                <a:solidFill>
                  <a:srgbClr val="0F1115"/>
                </a:solidFill>
                <a:latin typeface="quote-cjk-patch"/>
              </a:rPr>
              <a:t>int</a:t>
            </a:r>
            <a:r>
              <a:rPr lang="en-US" sz="4800" i="1" dirty="0" smtClean="0">
                <a:solidFill>
                  <a:srgbClr val="0F1115"/>
                </a:solidFill>
                <a:latin typeface="quote-cjk-patch"/>
              </a:rPr>
              <a:t>“,</a:t>
            </a:r>
            <a:r>
              <a:rPr lang="en-US" sz="4800" i="1" dirty="0">
                <a:solidFill>
                  <a:srgbClr val="0F1115"/>
                </a:solidFill>
                <a:latin typeface="quote-cjk-patch"/>
              </a:rPr>
              <a:t> it creates a </a:t>
            </a:r>
            <a:r>
              <a:rPr lang="en-US" sz="4800" b="1" i="1" dirty="0">
                <a:solidFill>
                  <a:srgbClr val="0F1115"/>
                </a:solidFill>
                <a:latin typeface="quote-cjk-patch"/>
              </a:rPr>
              <a:t>detailed description</a:t>
            </a:r>
            <a:r>
              <a:rPr lang="en-US" sz="4800" i="1" dirty="0">
                <a:solidFill>
                  <a:srgbClr val="0F1115"/>
                </a:solidFill>
                <a:latin typeface="quote-cjk-patch"/>
              </a:rPr>
              <a:t> of what "</a:t>
            </a:r>
            <a:r>
              <a:rPr lang="en-US" sz="4800" i="1" dirty="0" err="1">
                <a:solidFill>
                  <a:srgbClr val="0F1115"/>
                </a:solidFill>
                <a:latin typeface="quote-cjk-patch"/>
              </a:rPr>
              <a:t>int</a:t>
            </a:r>
            <a:r>
              <a:rPr lang="en-US" sz="4800" i="1" dirty="0">
                <a:solidFill>
                  <a:srgbClr val="0F1115"/>
                </a:solidFill>
                <a:latin typeface="quote-cjk-patch"/>
              </a:rPr>
              <a:t>" </a:t>
            </a:r>
            <a:r>
              <a:rPr lang="en-US" sz="4800" i="1" dirty="0" smtClean="0">
                <a:solidFill>
                  <a:srgbClr val="0F1115"/>
                </a:solidFill>
                <a:latin typeface="quote-cjk-patch"/>
              </a:rPr>
              <a:t>means.</a:t>
            </a:r>
            <a:endParaRPr lang="en-US" sz="4800" i="1" dirty="0"/>
          </a:p>
          <a:p>
            <a:pPr lvl="0"/>
            <a:r>
              <a:rPr lang="en-US" sz="4800" b="1" dirty="0" smtClean="0"/>
              <a:t>Not</a:t>
            </a:r>
            <a:r>
              <a:rPr lang="en-US" sz="4800" dirty="0"/>
              <a:t> just tokens from the parser, but meaningful constructs built during semantic analysis</a:t>
            </a:r>
          </a:p>
          <a:p>
            <a:pPr marL="0" indent="0">
              <a:buNone/>
            </a:pPr>
            <a:r>
              <a:rPr lang="en-US" sz="4800" b="1" dirty="0" smtClean="0"/>
              <a:t>Background </a:t>
            </a:r>
            <a:r>
              <a:rPr lang="en-US" sz="4800" b="1" dirty="0"/>
              <a:t>&amp; Relevance</a:t>
            </a:r>
          </a:p>
          <a:p>
            <a:pPr lvl="0"/>
            <a:r>
              <a:rPr lang="en-US" sz="4800" b="1" dirty="0"/>
              <a:t>Critical component</a:t>
            </a:r>
            <a:r>
              <a:rPr lang="en-US" sz="4800" dirty="0"/>
              <a:t> of modern compilers</a:t>
            </a:r>
          </a:p>
          <a:p>
            <a:pPr lvl="0"/>
            <a:r>
              <a:rPr lang="en-US" sz="4800" b="1" dirty="0"/>
              <a:t>Enables</a:t>
            </a:r>
            <a:r>
              <a:rPr lang="en-US" sz="4800" dirty="0"/>
              <a:t> static type checking, error detection, and optimization</a:t>
            </a:r>
          </a:p>
          <a:p>
            <a:pPr lvl="0"/>
            <a:r>
              <a:rPr lang="en-US" sz="4800" b="1" dirty="0"/>
              <a:t>Foundation</a:t>
            </a:r>
            <a:r>
              <a:rPr lang="en-US" sz="4800" dirty="0"/>
              <a:t> for language features like generics, polymorphism, and type inference</a:t>
            </a:r>
          </a:p>
          <a:p>
            <a:pPr lvl="0"/>
            <a:r>
              <a:rPr lang="en-US" sz="4800" b="1" dirty="0"/>
              <a:t>Essential</a:t>
            </a:r>
            <a:r>
              <a:rPr lang="en-US" sz="4800" dirty="0"/>
              <a:t> for ensuring program correctness before execution</a:t>
            </a:r>
          </a:p>
          <a:p>
            <a:pPr marL="0" indent="0">
              <a:buNone/>
            </a:pPr>
            <a:r>
              <a:rPr lang="en-US" sz="3400" dirty="0" smtClean="0"/>
              <a:t>                                              </a:t>
            </a:r>
            <a:r>
              <a:rPr lang="en-US" sz="4800" b="1" dirty="0" smtClean="0"/>
              <a:t>Role </a:t>
            </a:r>
            <a:r>
              <a:rPr lang="en-US" sz="4800" b="1" dirty="0"/>
              <a:t>in Compiler Pipeline</a:t>
            </a:r>
            <a:r>
              <a:rPr lang="en-US" sz="4800" b="1" dirty="0" smtClean="0"/>
              <a:t>:</a:t>
            </a:r>
            <a:endParaRPr lang="en-US" sz="4800" dirty="0"/>
          </a:p>
          <a:p>
            <a:pPr marL="0" indent="0">
              <a:buNone/>
            </a:pPr>
            <a:r>
              <a:rPr lang="en-US" sz="3200" dirty="0" smtClean="0"/>
              <a:t>                 Lexical </a:t>
            </a:r>
            <a:r>
              <a:rPr lang="en-US" sz="3200" dirty="0"/>
              <a:t>Analysis → Syntax Analysis → SEMANTIC ANALYSIS → Code Generation</a:t>
            </a:r>
          </a:p>
          <a:p>
            <a:pPr marL="0" indent="0">
              <a:buNone/>
            </a:pPr>
            <a:r>
              <a:rPr lang="en-US" sz="3200" dirty="0"/>
              <a:t>                                                                          </a:t>
            </a:r>
            <a:r>
              <a:rPr lang="en-US" sz="3200" dirty="0" smtClean="0"/>
              <a:t>                ↓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                            </a:t>
            </a:r>
            <a:r>
              <a:rPr lang="en-US" sz="3200" dirty="0" smtClean="0"/>
              <a:t>               Type </a:t>
            </a:r>
            <a:r>
              <a:rPr lang="en-US" sz="3200" dirty="0"/>
              <a:t>Expressions</a:t>
            </a:r>
          </a:p>
          <a:p>
            <a:pPr marL="0" indent="0">
              <a:buNone/>
            </a:pPr>
            <a:r>
              <a:rPr lang="en-US" sz="3200" dirty="0"/>
              <a:t>                                                                       </a:t>
            </a:r>
            <a:r>
              <a:rPr lang="en-US" sz="3200" dirty="0" smtClean="0"/>
              <a:t>                   </a:t>
            </a:r>
            <a:r>
              <a:rPr lang="en-US" sz="3200" dirty="0"/>
              <a:t>↓</a:t>
            </a:r>
          </a:p>
          <a:p>
            <a:pPr marL="0" indent="0">
              <a:buNone/>
            </a:pPr>
            <a:r>
              <a:rPr lang="en-US" sz="3200" dirty="0"/>
              <a:t>                                                  </a:t>
            </a:r>
            <a:r>
              <a:rPr lang="en-US" sz="3200" dirty="0" smtClean="0"/>
              <a:t>                  Type </a:t>
            </a:r>
            <a:r>
              <a:rPr lang="en-US" sz="3200" dirty="0"/>
              <a:t>Checking &amp; Inference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199"/>
            <a:ext cx="6345260" cy="40038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sz="4400" dirty="0" smtClean="0"/>
              <a:t> </a:t>
            </a:r>
            <a:r>
              <a:rPr lang="en-US" sz="6400" i="1" dirty="0">
                <a:solidFill>
                  <a:srgbClr val="FF0000"/>
                </a:solidFill>
              </a:rPr>
              <a:t>What are Type Expressions in Semantic Analysis</a:t>
            </a:r>
            <a:r>
              <a:rPr lang="en-US" sz="6400" i="1" dirty="0" smtClean="0">
                <a:solidFill>
                  <a:srgbClr val="FF0000"/>
                </a:solidFill>
              </a:rPr>
              <a:t>?</a:t>
            </a:r>
            <a:endParaRPr lang="en-US" sz="4400" b="1" i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6400" b="1" dirty="0"/>
              <a:t>Definition</a:t>
            </a:r>
          </a:p>
          <a:p>
            <a:pPr marL="0" indent="0">
              <a:buNone/>
            </a:pPr>
            <a:r>
              <a:rPr lang="en-US" sz="6400" dirty="0" smtClean="0">
                <a:solidFill>
                  <a:schemeClr val="accent1">
                    <a:lumMod val="75000"/>
                  </a:schemeClr>
                </a:solidFill>
              </a:rPr>
              <a:t>Type </a:t>
            </a:r>
            <a:r>
              <a:rPr lang="en-US" sz="6400" dirty="0">
                <a:solidFill>
                  <a:schemeClr val="accent1">
                    <a:lumMod val="75000"/>
                  </a:schemeClr>
                </a:solidFill>
              </a:rPr>
              <a:t>expressions </a:t>
            </a:r>
            <a:r>
              <a:rPr lang="en-US" sz="6400" dirty="0"/>
              <a:t>are </a:t>
            </a:r>
            <a:r>
              <a:rPr lang="en-US" sz="6400" b="1" dirty="0"/>
              <a:t>abstract data structures</a:t>
            </a:r>
            <a:r>
              <a:rPr lang="en-US" sz="6400" dirty="0"/>
              <a:t> that:</a:t>
            </a:r>
          </a:p>
          <a:p>
            <a:pPr lvl="0"/>
            <a:r>
              <a:rPr lang="en-US" sz="6400" dirty="0"/>
              <a:t>Represent the </a:t>
            </a:r>
            <a:r>
              <a:rPr lang="en-US" sz="6400" b="1" dirty="0"/>
              <a:t>type information</a:t>
            </a:r>
            <a:r>
              <a:rPr lang="en-US" sz="6400" dirty="0"/>
              <a:t> of program </a:t>
            </a:r>
            <a:r>
              <a:rPr lang="en-US" sz="6400" dirty="0" smtClean="0"/>
              <a:t>elements</a:t>
            </a:r>
          </a:p>
          <a:p>
            <a:r>
              <a:rPr lang="en-US" sz="6600" b="1" dirty="0"/>
              <a:t>Structured data</a:t>
            </a:r>
            <a:r>
              <a:rPr lang="en-US" sz="6600" dirty="0"/>
              <a:t> that captures type information for compiler </a:t>
            </a:r>
            <a:r>
              <a:rPr lang="en-US" sz="6600" dirty="0" smtClean="0"/>
              <a:t>validation</a:t>
            </a:r>
            <a:endParaRPr lang="en-US" sz="6400" dirty="0"/>
          </a:p>
          <a:p>
            <a:pPr lvl="0"/>
            <a:r>
              <a:rPr lang="en-US" sz="6400" dirty="0"/>
              <a:t>Are constructed during </a:t>
            </a:r>
            <a:r>
              <a:rPr lang="en-US" sz="6400" b="1" dirty="0"/>
              <a:t>semantic analysis</a:t>
            </a:r>
            <a:endParaRPr lang="en-US" sz="6400" dirty="0"/>
          </a:p>
          <a:p>
            <a:pPr lvl="0"/>
            <a:r>
              <a:rPr lang="en-US" sz="6400" dirty="0"/>
              <a:t>Enable </a:t>
            </a:r>
            <a:r>
              <a:rPr lang="en-US" sz="6400" b="1" dirty="0"/>
              <a:t>static verification</a:t>
            </a:r>
            <a:r>
              <a:rPr lang="en-US" sz="6400" dirty="0"/>
              <a:t> of type rules</a:t>
            </a:r>
          </a:p>
          <a:p>
            <a:pPr lvl="0"/>
            <a:r>
              <a:rPr lang="en-US" sz="6400" dirty="0"/>
              <a:t>Are attached to </a:t>
            </a:r>
            <a:r>
              <a:rPr lang="en-US" sz="6400" b="1" dirty="0"/>
              <a:t>AST nodes</a:t>
            </a:r>
            <a:r>
              <a:rPr lang="en-US" sz="6400" dirty="0"/>
              <a:t> for further </a:t>
            </a:r>
            <a:r>
              <a:rPr lang="en-US" sz="6400" dirty="0" smtClean="0"/>
              <a:t>processing</a:t>
            </a:r>
          </a:p>
          <a:p>
            <a:pPr marL="0" indent="0">
              <a:buNone/>
            </a:pPr>
            <a:r>
              <a:rPr lang="en-US" sz="6400" b="1" dirty="0" smtClean="0"/>
              <a:t>    : </a:t>
            </a:r>
            <a:r>
              <a:rPr lang="en-US" sz="6400" b="1" dirty="0"/>
              <a:t>abstract representations</a:t>
            </a:r>
            <a:r>
              <a:rPr lang="en-US" sz="6400" dirty="0"/>
              <a:t> of data types constructed </a:t>
            </a:r>
            <a:r>
              <a:rPr lang="en-US" sz="6400" dirty="0" smtClean="0"/>
              <a:t>from</a:t>
            </a:r>
          </a:p>
          <a:p>
            <a:pPr lvl="0"/>
            <a:r>
              <a:rPr lang="en-US" sz="6400" dirty="0" smtClean="0"/>
              <a:t>Basic </a:t>
            </a:r>
            <a:r>
              <a:rPr lang="en-US" sz="6400" dirty="0"/>
              <a:t>types (</a:t>
            </a:r>
            <a:r>
              <a:rPr lang="en-US" sz="6400" dirty="0" err="1"/>
              <a:t>int,float,char,void</a:t>
            </a:r>
            <a:r>
              <a:rPr lang="en-US" sz="6400" dirty="0"/>
              <a:t>)</a:t>
            </a:r>
            <a:endParaRPr lang="en-US" sz="6400" dirty="0" smtClean="0"/>
          </a:p>
          <a:p>
            <a:pPr lvl="0"/>
            <a:r>
              <a:rPr lang="en-US" sz="6400" dirty="0" smtClean="0"/>
              <a:t>Type </a:t>
            </a:r>
            <a:r>
              <a:rPr lang="en-US" sz="6400" dirty="0"/>
              <a:t>constructors </a:t>
            </a:r>
            <a:r>
              <a:rPr lang="en-US" sz="6400" dirty="0" smtClean="0"/>
              <a:t>(</a:t>
            </a:r>
            <a:r>
              <a:rPr lang="en-US" sz="6400" dirty="0" err="1" smtClean="0"/>
              <a:t>int</a:t>
            </a:r>
            <a:r>
              <a:rPr lang="en-US" sz="6400" dirty="0" smtClean="0"/>
              <a:t> scores[5],</a:t>
            </a:r>
            <a:r>
              <a:rPr lang="en-US" sz="6400" dirty="0" err="1" smtClean="0"/>
              <a:t>int</a:t>
            </a:r>
            <a:r>
              <a:rPr lang="en-US" sz="6400" dirty="0" smtClean="0"/>
              <a:t>* </a:t>
            </a:r>
            <a:r>
              <a:rPr lang="en-US" sz="6400" dirty="0" err="1" smtClean="0"/>
              <a:t>ptr</a:t>
            </a:r>
            <a:r>
              <a:rPr lang="en-US" sz="6400" dirty="0" smtClean="0"/>
              <a:t>, </a:t>
            </a:r>
            <a:r>
              <a:rPr lang="en-US" sz="6400" dirty="0" err="1" smtClean="0"/>
              <a:t>int</a:t>
            </a:r>
            <a:r>
              <a:rPr lang="en-US" sz="6400" dirty="0" smtClean="0"/>
              <a:t> add(</a:t>
            </a:r>
            <a:r>
              <a:rPr lang="en-US" sz="6400" dirty="0" err="1" smtClean="0"/>
              <a:t>x,y</a:t>
            </a:r>
            <a:r>
              <a:rPr lang="en-US" sz="6400" dirty="0" smtClean="0"/>
              <a:t>))</a:t>
            </a:r>
            <a:endParaRPr lang="en-US" sz="6400" dirty="0"/>
          </a:p>
          <a:p>
            <a:pPr lvl="0"/>
            <a:r>
              <a:rPr lang="en-US" sz="6400" dirty="0" smtClean="0"/>
              <a:t>Type </a:t>
            </a:r>
            <a:r>
              <a:rPr lang="en-US" sz="6400" dirty="0"/>
              <a:t>operators </a:t>
            </a:r>
            <a:r>
              <a:rPr lang="en-US" sz="6400" dirty="0" smtClean="0"/>
              <a:t>(</a:t>
            </a:r>
            <a:r>
              <a:rPr lang="en-US" sz="6400" dirty="0" err="1" smtClean="0"/>
              <a:t>int</a:t>
            </a:r>
            <a:r>
              <a:rPr lang="en-US" sz="6400" dirty="0" smtClean="0"/>
              <a:t> X Float</a:t>
            </a:r>
            <a:r>
              <a:rPr lang="en-US" sz="6400" dirty="0"/>
              <a:t>, </a:t>
            </a:r>
            <a:r>
              <a:rPr lang="en-US" sz="6400" dirty="0" err="1"/>
              <a:t>int</a:t>
            </a:r>
            <a:r>
              <a:rPr lang="en-US" sz="6400" dirty="0"/>
              <a:t> → float)</a:t>
            </a:r>
            <a:endParaRPr lang="en-US" sz="6400" dirty="0" smtClean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 </a:t>
            </a:r>
            <a:endParaRPr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839" y="348027"/>
            <a:ext cx="8229600" cy="1143000"/>
          </a:xfrm>
        </p:spPr>
        <p:txBody>
          <a:bodyPr/>
          <a:lstStyle/>
          <a:p>
            <a:r>
              <a:rPr lang="en-US" dirty="0" smtClean="0"/>
              <a:t>    </a:t>
            </a:r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5" name="Oval 4"/>
          <p:cNvSpPr/>
          <p:nvPr/>
        </p:nvSpPr>
        <p:spPr>
          <a:xfrm>
            <a:off x="3447875" y="2147392"/>
            <a:ext cx="1895912" cy="66273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568013" y="2254744"/>
            <a:ext cx="14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</a:t>
            </a:r>
            <a:r>
              <a:rPr lang="en-US" sz="1600" dirty="0" smtClean="0"/>
              <a:t>Function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2795022" y="2632862"/>
            <a:ext cx="873268" cy="629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167618" y="2595985"/>
            <a:ext cx="1015068" cy="700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779617" y="3255440"/>
            <a:ext cx="1418146" cy="49495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692337" y="3296465"/>
            <a:ext cx="1418146" cy="49495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1301692" y="3720718"/>
            <a:ext cx="873268" cy="629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852257" y="3697063"/>
            <a:ext cx="1015068" cy="700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65500" y="4350474"/>
            <a:ext cx="1418146" cy="49495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143254" y="4415524"/>
            <a:ext cx="1418146" cy="49495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670580" y="3273066"/>
            <a:ext cx="14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1400" dirty="0" smtClean="0"/>
              <a:t>parameter</a:t>
            </a:r>
            <a:r>
              <a:rPr lang="en-US" sz="1600" dirty="0"/>
              <a:t>s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5675152" y="3343885"/>
            <a:ext cx="1434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  Return Type</a:t>
            </a:r>
            <a:endParaRPr 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3322394" y="4437762"/>
            <a:ext cx="14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r>
              <a:rPr lang="en-US" sz="1400" dirty="0" smtClean="0"/>
              <a:t>  </a:t>
            </a:r>
            <a:r>
              <a:rPr lang="en-US" sz="1600" dirty="0" smtClean="0"/>
              <a:t>Float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345100" y="4374361"/>
            <a:ext cx="1434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     </a:t>
            </a:r>
            <a:r>
              <a:rPr lang="en-US" dirty="0" err="1" smtClean="0"/>
              <a:t>int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34207" y="5034508"/>
            <a:ext cx="40271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tree for: function(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float) → </a:t>
            </a:r>
            <a:r>
              <a:rPr lang="en-US" b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</a:t>
            </a:r>
            <a:endParaRPr lang="en-US" b="1" dirty="0"/>
          </a:p>
        </p:txBody>
      </p:sp>
      <p:sp>
        <p:nvSpPr>
          <p:cNvPr id="24" name="Rectangle 23"/>
          <p:cNvSpPr/>
          <p:nvPr/>
        </p:nvSpPr>
        <p:spPr>
          <a:xfrm>
            <a:off x="609946" y="5631254"/>
            <a:ext cx="8290773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b="1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compiler design</a:t>
            </a:r>
            <a:r>
              <a:rPr lang="en-US" i="1" dirty="0">
                <a:solidFill>
                  <a:srgbClr val="0F1115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b="1" i="1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expressions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are formal representations of data types used by the compiler to perform </a:t>
            </a:r>
            <a:r>
              <a:rPr lang="en-US" b="1" i="1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checking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i="1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 inference</a:t>
            </a:r>
            <a:r>
              <a:rPr lang="en-US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They describe the structure and properties of data types in a programming language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Expression </a:t>
            </a:r>
            <a:r>
              <a:rPr lang="en-US" dirty="0" smtClean="0"/>
              <a:t>Grammar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646" y="2136006"/>
            <a:ext cx="8229600" cy="4525963"/>
          </a:xfrm>
        </p:spPr>
        <p:txBody>
          <a:bodyPr/>
          <a:lstStyle/>
          <a:p>
            <a:r>
              <a:rPr lang="en-US" dirty="0"/>
              <a:t>Formal Grammar</a:t>
            </a:r>
            <a:endParaRPr lang="en-US" b="1" dirty="0"/>
          </a:p>
          <a:p>
            <a:pPr marL="0" indent="0">
              <a:buNone/>
            </a:pP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172280"/>
              </p:ext>
            </p:extLst>
          </p:nvPr>
        </p:nvGraphicFramePr>
        <p:xfrm>
          <a:off x="1704042" y="2558643"/>
          <a:ext cx="5937250" cy="41417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1850"/>
                <a:gridCol w="1919605"/>
                <a:gridCol w="1915795"/>
              </a:tblGrid>
              <a:tr h="22709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Type Expression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Description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Example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2709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BasicType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Primitive built-in data types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int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000">
                          <a:effectLst/>
                        </a:rPr>
                        <a:t>float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000">
                          <a:effectLst/>
                        </a:rPr>
                        <a:t>bool</a:t>
                      </a:r>
                      <a:r>
                        <a:rPr lang="en-US" sz="1200">
                          <a:effectLst/>
                        </a:rPr>
                        <a:t>, </a:t>
                      </a:r>
                      <a:r>
                        <a:rPr lang="en-US" sz="1000">
                          <a:effectLst/>
                        </a:rPr>
                        <a:t>char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610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Array(Int, TypeExpr)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Array type with fixed size and element type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array(10,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14896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Pointer(TypeExpr)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Pointer/reference to another type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pointer(int)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27633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Function([TypeExpr], TypeExpr)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Function type with parameter types and return type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function(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) → </a:t>
                      </a:r>
                      <a:r>
                        <a:rPr lang="en-US" sz="1000" dirty="0" err="1">
                          <a:effectLst/>
                        </a:rPr>
                        <a:t>bool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610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Record([(String, </a:t>
                      </a:r>
                      <a:r>
                        <a:rPr lang="en-US" sz="1200" dirty="0" err="1">
                          <a:effectLst/>
                        </a:rPr>
                        <a:t>TypeExpr</a:t>
                      </a:r>
                      <a:r>
                        <a:rPr lang="en-US" sz="1200" dirty="0">
                          <a:effectLst/>
                        </a:rPr>
                        <a:t>)])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Composite type with named fields (</a:t>
                      </a:r>
                      <a:r>
                        <a:rPr lang="en-US" sz="1200" dirty="0" err="1">
                          <a:effectLst/>
                        </a:rPr>
                        <a:t>struct</a:t>
                      </a:r>
                      <a:r>
                        <a:rPr lang="en-US" sz="1200" dirty="0">
                          <a:effectLst/>
                        </a:rPr>
                        <a:t>/record)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struct</a:t>
                      </a:r>
                      <a:r>
                        <a:rPr lang="en-US" sz="1000" dirty="0">
                          <a:effectLst/>
                        </a:rPr>
                        <a:t> { name: string, age: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 }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66104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TypeVariable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Generic or polymorphic type variable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α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34057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TypeConstructor(TypeExpr*)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Parametric or constructed types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List&lt;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&gt;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000" dirty="0">
                          <a:effectLst/>
                        </a:rPr>
                        <a:t>Optional&lt;string&gt;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6467" y="670741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4400" dirty="0" smtClean="0"/>
              <a:t>Type </a:t>
            </a:r>
            <a:r>
              <a:rPr lang="en-US" sz="4400" dirty="0"/>
              <a:t>Constructors </a:t>
            </a:r>
            <a:r>
              <a:rPr lang="en-US" sz="4400" dirty="0" smtClean="0"/>
              <a:t>&amp;Examples</a:t>
            </a:r>
            <a:br>
              <a:rPr lang="en-US" sz="4400" dirty="0" smtClean="0"/>
            </a:br>
            <a:endParaRPr lang="en-US" sz="4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573715"/>
              </p:ext>
            </p:extLst>
          </p:nvPr>
        </p:nvGraphicFramePr>
        <p:xfrm>
          <a:off x="1485929" y="1979803"/>
          <a:ext cx="5937250" cy="37498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78660"/>
                <a:gridCol w="1979295"/>
                <a:gridCol w="1979295"/>
              </a:tblGrid>
              <a:tr h="66067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Type Constructor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Syntax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Example &amp; Type Expression 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8744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Array               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</a:rPr>
                        <a:t>array(size</a:t>
                      </a:r>
                      <a:r>
                        <a:rPr lang="en-US" sz="1000" dirty="0">
                          <a:effectLst/>
                        </a:rPr>
                        <a:t>, </a:t>
                      </a:r>
                      <a:r>
                        <a:rPr lang="en-US" sz="1000" dirty="0" err="1">
                          <a:effectLst/>
                        </a:rPr>
                        <a:t>base_type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arr</a:t>
                      </a:r>
                      <a:r>
                        <a:rPr lang="en-US" sz="1000" dirty="0">
                          <a:effectLst/>
                        </a:rPr>
                        <a:t>[10];</a:t>
                      </a:r>
                    </a:p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→ array(10,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3392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Pointer   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pointer(base_type)                  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* </a:t>
                      </a:r>
                      <a:r>
                        <a:rPr lang="en-US" sz="1000" dirty="0" err="1">
                          <a:effectLst/>
                        </a:rPr>
                        <a:t>ptr</a:t>
                      </a:r>
                      <a:r>
                        <a:rPr lang="en-US" sz="1000" dirty="0">
                          <a:effectLst/>
                        </a:rPr>
                        <a:t>; </a:t>
                      </a:r>
                    </a:p>
                    <a:p>
                      <a:pPr marL="0" marR="0"/>
                      <a:r>
                        <a:rPr lang="en-US" sz="1000" dirty="0">
                          <a:effectLst/>
                        </a:rPr>
                        <a:t>→ pointer(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3392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Function             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function(params) → return_type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>
                          <a:effectLst/>
                        </a:rPr>
                        <a:t>int add(int, int); </a:t>
                      </a:r>
                    </a:p>
                    <a:p>
                      <a:pPr marL="0" marR="0"/>
                      <a:r>
                        <a:rPr lang="en-US" sz="1000">
                          <a:effectLst/>
                        </a:rPr>
                        <a:t>→ function(int, int) → int </a:t>
                      </a:r>
                    </a:p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33922"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Record (Struct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record({ field : type, ... })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/>
                      <a:r>
                        <a:rPr lang="en-US" sz="1000" dirty="0" err="1">
                          <a:effectLst/>
                        </a:rPr>
                        <a:t>struct</a:t>
                      </a:r>
                      <a:r>
                        <a:rPr lang="en-US" sz="1000" dirty="0">
                          <a:effectLst/>
                        </a:rPr>
                        <a:t> Point {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 x;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 y; };</a:t>
                      </a:r>
                    </a:p>
                    <a:p>
                      <a:pPr marL="0" marR="0"/>
                      <a:r>
                        <a:rPr lang="en-US" sz="1000" dirty="0">
                          <a:effectLst/>
                        </a:rPr>
                        <a:t>→ record({ x: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, y: </a:t>
                      </a:r>
                      <a:r>
                        <a:rPr lang="en-US" sz="1000" dirty="0" err="1">
                          <a:effectLst/>
                        </a:rPr>
                        <a:t>int</a:t>
                      </a:r>
                      <a:r>
                        <a:rPr lang="en-US" sz="1000" dirty="0">
                          <a:effectLst/>
                        </a:rPr>
                        <a:t> }) </a:t>
                      </a:r>
                    </a:p>
                    <a:p>
                      <a:pPr marL="0" marR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 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50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Expressions in Different Languages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C/C++ Examples</a:t>
            </a:r>
          </a:p>
          <a:p>
            <a:r>
              <a:rPr lang="en-US" dirty="0" err="1"/>
              <a:t>int</a:t>
            </a:r>
            <a:r>
              <a:rPr lang="en-US" dirty="0"/>
              <a:t>*                     // pointer(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 err="1"/>
              <a:t>int</a:t>
            </a:r>
            <a:r>
              <a:rPr lang="en-US" dirty="0"/>
              <a:t>[10]                  // array(10, </a:t>
            </a:r>
            <a:r>
              <a:rPr lang="en-US" dirty="0" err="1"/>
              <a:t>int</a:t>
            </a:r>
            <a:r>
              <a:rPr lang="en-US" dirty="0"/>
              <a:t>)</a:t>
            </a:r>
          </a:p>
          <a:p>
            <a:r>
              <a:rPr lang="en-US" dirty="0"/>
              <a:t>void (*)(</a:t>
            </a:r>
            <a:r>
              <a:rPr lang="en-US" dirty="0" err="1"/>
              <a:t>int</a:t>
            </a:r>
            <a:r>
              <a:rPr lang="en-US" dirty="0"/>
              <a:t>)      </a:t>
            </a:r>
            <a:r>
              <a:rPr lang="en-US" dirty="0" smtClean="0"/>
              <a:t> </a:t>
            </a:r>
            <a:r>
              <a:rPr lang="en-US" dirty="0"/>
              <a:t>// pointer(function(</a:t>
            </a:r>
            <a:r>
              <a:rPr lang="en-US" dirty="0" err="1"/>
              <a:t>int</a:t>
            </a:r>
            <a:r>
              <a:rPr lang="en-US" dirty="0"/>
              <a:t>) </a:t>
            </a:r>
            <a:r>
              <a:rPr lang="en-US" dirty="0" smtClean="0"/>
              <a:t>→void</a:t>
            </a:r>
            <a:r>
              <a:rPr lang="en-US" dirty="0"/>
              <a:t>)</a:t>
            </a:r>
          </a:p>
          <a:p>
            <a:r>
              <a:rPr lang="en-US" dirty="0" err="1"/>
              <a:t>struct</a:t>
            </a:r>
            <a:r>
              <a:rPr lang="en-US" dirty="0"/>
              <a:t> {</a:t>
            </a:r>
            <a:r>
              <a:rPr lang="en-US" dirty="0" err="1"/>
              <a:t>int</a:t>
            </a:r>
            <a:r>
              <a:rPr lang="en-US" dirty="0"/>
              <a:t> a; float b;} // record({a: </a:t>
            </a:r>
            <a:r>
              <a:rPr lang="en-US" dirty="0" err="1"/>
              <a:t>int</a:t>
            </a:r>
            <a:r>
              <a:rPr lang="en-US" dirty="0"/>
              <a:t>, b: float</a:t>
            </a:r>
            <a:r>
              <a:rPr lang="en-US" dirty="0" smtClean="0"/>
              <a:t>})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Java Examples</a:t>
            </a:r>
          </a:p>
          <a:p>
            <a:r>
              <a:rPr lang="en-US" dirty="0"/>
              <a:t>String[]                // array(?, String)</a:t>
            </a:r>
          </a:p>
          <a:p>
            <a:r>
              <a:rPr lang="en-US" dirty="0" err="1"/>
              <a:t>ArrayList</a:t>
            </a:r>
            <a:r>
              <a:rPr lang="en-US" dirty="0"/>
              <a:t>&lt;Integer&gt;      // </a:t>
            </a:r>
            <a:r>
              <a:rPr lang="en-US" dirty="0" err="1"/>
              <a:t>GenericType</a:t>
            </a:r>
            <a:r>
              <a:rPr lang="en-US" dirty="0"/>
              <a:t>(</a:t>
            </a:r>
            <a:r>
              <a:rPr lang="en-US" dirty="0" err="1"/>
              <a:t>ArrayList</a:t>
            </a:r>
            <a:r>
              <a:rPr lang="en-US" dirty="0"/>
              <a:t>, Integer)</a:t>
            </a:r>
          </a:p>
          <a:p>
            <a:r>
              <a:rPr lang="en-US" dirty="0"/>
              <a:t>Map&lt;String, List&lt;Integer&gt;&gt; // Nested generic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Implementation in </a:t>
            </a:r>
            <a:r>
              <a:rPr lang="en-US" dirty="0" smtClean="0"/>
              <a:t>Compilers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139193"/>
            <a:ext cx="6345260" cy="5352176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500" b="1" dirty="0"/>
              <a:t>C++ Data Structure</a:t>
            </a:r>
          </a:p>
          <a:p>
            <a:r>
              <a:rPr lang="en-US" sz="4400" dirty="0" err="1"/>
              <a:t>enum</a:t>
            </a:r>
            <a:r>
              <a:rPr lang="en-US" sz="4400" dirty="0"/>
              <a:t> </a:t>
            </a:r>
            <a:r>
              <a:rPr lang="en-US" sz="4400" dirty="0" err="1"/>
              <a:t>TypeKind</a:t>
            </a:r>
            <a:r>
              <a:rPr lang="en-US" sz="4400" dirty="0"/>
              <a:t> { BASIC, ARRAY, POINTER, FUNCTION, RECORD </a:t>
            </a:r>
            <a:r>
              <a:rPr lang="en-US" sz="4400" dirty="0" smtClean="0"/>
              <a:t>};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class </a:t>
            </a:r>
            <a:r>
              <a:rPr lang="en-US" sz="4400" dirty="0" err="1"/>
              <a:t>TypeExpression</a:t>
            </a:r>
            <a:r>
              <a:rPr lang="en-US" sz="4400" dirty="0"/>
              <a:t> {</a:t>
            </a:r>
          </a:p>
          <a:p>
            <a:pPr marL="0" indent="0">
              <a:buNone/>
            </a:pPr>
            <a:r>
              <a:rPr lang="en-US" sz="4400" dirty="0"/>
              <a:t>    </a:t>
            </a:r>
            <a:r>
              <a:rPr lang="en-US" sz="4400" dirty="0" err="1"/>
              <a:t>TypeKind</a:t>
            </a:r>
            <a:r>
              <a:rPr lang="en-US" sz="4400" dirty="0"/>
              <a:t> kind;</a:t>
            </a:r>
          </a:p>
          <a:p>
            <a:pPr marL="0" indent="0">
              <a:buNone/>
            </a:pPr>
            <a:r>
              <a:rPr lang="en-US" sz="4400" dirty="0"/>
              <a:t>    union {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BasicType</a:t>
            </a:r>
            <a:r>
              <a:rPr lang="en-US" sz="4400" dirty="0"/>
              <a:t> basic;                    // </a:t>
            </a:r>
            <a:r>
              <a:rPr lang="en-US" sz="4400" dirty="0" err="1"/>
              <a:t>int</a:t>
            </a:r>
            <a:r>
              <a:rPr lang="en-US" sz="4400" dirty="0"/>
              <a:t>, float, etc.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struct</a:t>
            </a:r>
            <a:r>
              <a:rPr lang="en-US" sz="4400" dirty="0"/>
              <a:t> { </a:t>
            </a:r>
            <a:r>
              <a:rPr lang="en-US" sz="4400" dirty="0" err="1"/>
              <a:t>TypeExpr</a:t>
            </a:r>
            <a:r>
              <a:rPr lang="en-US" sz="4400" dirty="0"/>
              <a:t>* base; </a:t>
            </a:r>
            <a:r>
              <a:rPr lang="en-US" sz="4400" dirty="0" err="1"/>
              <a:t>int</a:t>
            </a:r>
            <a:r>
              <a:rPr lang="en-US" sz="4400" dirty="0"/>
              <a:t> size; } array;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TypeExpr</a:t>
            </a:r>
            <a:r>
              <a:rPr lang="en-US" sz="4400" dirty="0"/>
              <a:t>* pointer;</a:t>
            </a:r>
          </a:p>
          <a:p>
            <a:pPr marL="0" indent="0">
              <a:buNone/>
            </a:pPr>
            <a:r>
              <a:rPr lang="en-US" sz="4400" dirty="0"/>
              <a:t>        </a:t>
            </a:r>
            <a:r>
              <a:rPr lang="en-US" sz="4400" dirty="0" err="1"/>
              <a:t>struct</a:t>
            </a:r>
            <a:r>
              <a:rPr lang="en-US" sz="4400" dirty="0"/>
              <a:t> { </a:t>
            </a:r>
          </a:p>
          <a:p>
            <a:pPr marL="0" indent="0">
              <a:buNone/>
            </a:pPr>
            <a:r>
              <a:rPr lang="en-US" sz="4400" dirty="0"/>
              <a:t>            vector&lt;</a:t>
            </a:r>
            <a:r>
              <a:rPr lang="en-US" sz="4400" dirty="0" err="1"/>
              <a:t>TypeExpr</a:t>
            </a:r>
            <a:r>
              <a:rPr lang="en-US" sz="4400" dirty="0"/>
              <a:t>*&gt; </a:t>
            </a:r>
            <a:r>
              <a:rPr lang="en-US" sz="4400" dirty="0" err="1"/>
              <a:t>params</a:t>
            </a:r>
            <a:r>
              <a:rPr lang="en-US" sz="4400" dirty="0" smtClean="0"/>
              <a:t>;</a:t>
            </a:r>
          </a:p>
          <a:p>
            <a:pPr marL="0" indent="0">
              <a:buNone/>
            </a:pPr>
            <a:r>
              <a:rPr lang="en-US" sz="4400" dirty="0" smtClean="0"/>
              <a:t>            </a:t>
            </a:r>
            <a:r>
              <a:rPr lang="en-US" sz="4400" dirty="0" err="1" smtClean="0"/>
              <a:t>TypeExpr</a:t>
            </a:r>
            <a:r>
              <a:rPr lang="en-US" sz="4400" dirty="0" smtClean="0"/>
              <a:t>* </a:t>
            </a:r>
            <a:r>
              <a:rPr lang="en-US" sz="4400" dirty="0" err="1" smtClean="0"/>
              <a:t>returnType</a:t>
            </a:r>
            <a:r>
              <a:rPr lang="en-US" sz="4400" dirty="0" smtClean="0"/>
              <a:t>;</a:t>
            </a:r>
          </a:p>
          <a:p>
            <a:pPr marL="0" indent="0">
              <a:buNone/>
            </a:pPr>
            <a:r>
              <a:rPr lang="en-US" sz="4400" dirty="0" smtClean="0"/>
              <a:t>        </a:t>
            </a:r>
            <a:r>
              <a:rPr lang="en-US" sz="4400" dirty="0"/>
              <a:t>} function;</a:t>
            </a:r>
          </a:p>
          <a:p>
            <a:pPr marL="0" indent="0">
              <a:buNone/>
            </a:pPr>
            <a:r>
              <a:rPr lang="en-US" sz="4400" dirty="0"/>
              <a:t>        map&lt;string, </a:t>
            </a:r>
            <a:r>
              <a:rPr lang="en-US" sz="4400" dirty="0" err="1"/>
              <a:t>TypeExpr</a:t>
            </a:r>
            <a:r>
              <a:rPr lang="en-US" sz="4400" dirty="0"/>
              <a:t>*&gt; record;</a:t>
            </a:r>
          </a:p>
          <a:p>
            <a:pPr marL="0" indent="0">
              <a:buNone/>
            </a:pPr>
            <a:r>
              <a:rPr lang="en-US" sz="4400" dirty="0"/>
              <a:t>    };</a:t>
            </a:r>
          </a:p>
          <a:p>
            <a:pPr marL="0" indent="0">
              <a:buNone/>
            </a:pPr>
            <a:r>
              <a:rPr lang="en-US" sz="4400" dirty="0" smtClean="0"/>
              <a:t>};</a:t>
            </a:r>
            <a:endParaRPr lang="en-US" sz="4400" dirty="0"/>
          </a:p>
        </p:txBody>
      </p:sp>
      <p:sp>
        <p:nvSpPr>
          <p:cNvPr id="4" name="Rectangle 3"/>
          <p:cNvSpPr/>
          <p:nvPr/>
        </p:nvSpPr>
        <p:spPr>
          <a:xfrm>
            <a:off x="4725703" y="4540353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Key Operations</a:t>
            </a:r>
            <a:endParaRPr lang="en-US" b="1" dirty="0">
              <a:solidFill>
                <a:srgbClr val="FF0000"/>
              </a:solidFill>
            </a:endParaRPr>
          </a:p>
          <a:p>
            <a:pPr lvl="0"/>
            <a:r>
              <a:rPr lang="en-US" b="1" dirty="0"/>
              <a:t>Type Creation</a:t>
            </a:r>
            <a:r>
              <a:rPr lang="en-US" dirty="0"/>
              <a:t>: Build type expressions from AST</a:t>
            </a:r>
          </a:p>
          <a:p>
            <a:pPr lvl="0"/>
            <a:r>
              <a:rPr lang="en-US" b="1" dirty="0"/>
              <a:t>Type Checking</a:t>
            </a:r>
            <a:r>
              <a:rPr lang="en-US" dirty="0"/>
              <a:t>: Verify type compatibility</a:t>
            </a:r>
          </a:p>
          <a:p>
            <a:pPr lvl="0"/>
            <a:r>
              <a:rPr lang="en-US" b="1" dirty="0"/>
              <a:t>Type Inference</a:t>
            </a:r>
            <a:r>
              <a:rPr lang="en-US" dirty="0"/>
              <a:t>: Deduce types where not </a:t>
            </a:r>
            <a:r>
              <a:rPr lang="en-US" dirty="0" smtClean="0"/>
              <a:t>specified</a:t>
            </a:r>
          </a:p>
          <a:p>
            <a:r>
              <a:rPr lang="en-US" b="1" dirty="0"/>
              <a:t>Type Unification</a:t>
            </a:r>
            <a:r>
              <a:rPr lang="en-US" dirty="0"/>
              <a:t>: Solve type equations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Type Checking with Type Expressions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 b="1" dirty="0"/>
              <a:t>Type Compatibility </a:t>
            </a:r>
            <a:r>
              <a:rPr lang="en-US" sz="2500" b="1" dirty="0" smtClean="0"/>
              <a:t>Rules</a:t>
            </a:r>
          </a:p>
          <a:p>
            <a:r>
              <a:rPr lang="en-US" sz="2800" b="1" dirty="0"/>
              <a:t>array(T1, n) ≡ array(T2, m)   if T1 ≡ T2 AND n = m</a:t>
            </a:r>
          </a:p>
          <a:p>
            <a:r>
              <a:rPr lang="en-US" sz="2800" b="1" dirty="0"/>
              <a:t>pointer(T1) ≡ pointer(T2)     if T1 ≡ T2</a:t>
            </a:r>
          </a:p>
          <a:p>
            <a:r>
              <a:rPr lang="en-US" sz="2800" b="1" dirty="0"/>
              <a:t>function(Ts1)→T1 ≡ function(Ts2)→T2  </a:t>
            </a:r>
          </a:p>
          <a:p>
            <a:r>
              <a:rPr lang="en-US" sz="2800" b="1" dirty="0"/>
              <a:t>    if Ts1 ≡ Ts2 AND T1 ≡ T2</a:t>
            </a:r>
          </a:p>
          <a:p>
            <a:pPr marL="0" indent="0">
              <a:buNone/>
            </a:pPr>
            <a:r>
              <a:rPr lang="en-US" sz="2300" b="1" dirty="0"/>
              <a:t>Example: Type Checking Process</a:t>
            </a:r>
          </a:p>
          <a:p>
            <a:r>
              <a:rPr lang="en-US" sz="2300" dirty="0" err="1"/>
              <a:t>Int</a:t>
            </a:r>
            <a:r>
              <a:rPr lang="en-US" sz="2300" dirty="0"/>
              <a:t>  x = 10;</a:t>
            </a:r>
          </a:p>
          <a:p>
            <a:r>
              <a:rPr lang="en-US" sz="2300" dirty="0"/>
              <a:t>float y = 3.14;</a:t>
            </a:r>
          </a:p>
          <a:p>
            <a:r>
              <a:rPr lang="en-US" sz="2300" dirty="0"/>
              <a:t>x = y;    // Type mismatch: </a:t>
            </a:r>
            <a:r>
              <a:rPr lang="en-US" sz="2300" dirty="0" err="1"/>
              <a:t>int</a:t>
            </a:r>
            <a:r>
              <a:rPr lang="en-US" sz="2300" dirty="0"/>
              <a:t> ≠ </a:t>
            </a:r>
            <a:r>
              <a:rPr lang="en-US" sz="2300" dirty="0" smtClean="0"/>
              <a:t>float</a:t>
            </a:r>
          </a:p>
          <a:p>
            <a:pPr marL="0" indent="0">
              <a:buNone/>
            </a:pPr>
            <a:r>
              <a:rPr lang="en-US" sz="2300" b="1" dirty="0"/>
              <a:t>Compiler Action:</a:t>
            </a:r>
            <a:endParaRPr lang="en-US" sz="2300" dirty="0"/>
          </a:p>
          <a:p>
            <a:pPr lvl="0"/>
            <a:r>
              <a:rPr lang="en-US" sz="2300" dirty="0"/>
              <a:t>Extract type expressions: </a:t>
            </a:r>
            <a:r>
              <a:rPr lang="en-US" sz="2300" dirty="0" err="1"/>
              <a:t>int</a:t>
            </a:r>
            <a:r>
              <a:rPr lang="en-US" sz="2300" dirty="0"/>
              <a:t> and float</a:t>
            </a:r>
          </a:p>
          <a:p>
            <a:pPr lvl="0"/>
            <a:r>
              <a:rPr lang="en-US" sz="2300" dirty="0"/>
              <a:t>Check compatibility: </a:t>
            </a:r>
            <a:r>
              <a:rPr lang="en-US" sz="2300" dirty="0" err="1"/>
              <a:t>int</a:t>
            </a:r>
            <a:r>
              <a:rPr lang="en-US" sz="2300" dirty="0"/>
              <a:t> =float ? → </a:t>
            </a:r>
            <a:r>
              <a:rPr lang="en-US" sz="2300" b="1" dirty="0"/>
              <a:t>FALSE</a:t>
            </a:r>
            <a:endParaRPr lang="en-US" sz="2300" dirty="0"/>
          </a:p>
          <a:p>
            <a:pPr lvl="0"/>
            <a:r>
              <a:rPr lang="en-US" sz="2300" dirty="0"/>
              <a:t>Report error: "Cannot assign float to </a:t>
            </a:r>
            <a:r>
              <a:rPr lang="en-US" sz="2300" dirty="0" err="1"/>
              <a:t>int</a:t>
            </a:r>
            <a:r>
              <a:rPr lang="en-US" sz="2300" dirty="0"/>
              <a:t>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Applications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231472"/>
            <a:ext cx="6345260" cy="462652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b="1" dirty="0"/>
              <a:t>Case Study - React Props Validation</a:t>
            </a:r>
          </a:p>
          <a:p>
            <a:pPr marL="0" indent="0">
              <a:buNone/>
            </a:pPr>
            <a:r>
              <a:rPr lang="en-US" sz="4400" b="1" i="1" dirty="0"/>
              <a:t>Before Type Expressions (Runtime Errors)</a:t>
            </a:r>
          </a:p>
          <a:p>
            <a:pPr marL="0" indent="0">
              <a:buNone/>
            </a:pPr>
            <a:r>
              <a:rPr lang="en-US" sz="4400" dirty="0"/>
              <a:t> // React component - bugs only show up at runtime</a:t>
            </a:r>
          </a:p>
          <a:p>
            <a:pPr marL="0" indent="0">
              <a:buNone/>
            </a:pPr>
            <a:r>
              <a:rPr lang="en-US" sz="4400" dirty="0"/>
              <a:t>function </a:t>
            </a:r>
            <a:r>
              <a:rPr lang="en-US" sz="4400" dirty="0" err="1"/>
              <a:t>UserProfile</a:t>
            </a:r>
            <a:r>
              <a:rPr lang="en-US" sz="4400" dirty="0"/>
              <a:t>(props) {</a:t>
            </a:r>
          </a:p>
          <a:p>
            <a:pPr marL="0" indent="0">
              <a:buNone/>
            </a:pPr>
            <a:r>
              <a:rPr lang="en-US" sz="4400" dirty="0"/>
              <a:t>    return (</a:t>
            </a:r>
          </a:p>
          <a:p>
            <a:pPr marL="0" indent="0">
              <a:buNone/>
            </a:pPr>
            <a:r>
              <a:rPr lang="en-US" sz="4400" dirty="0"/>
              <a:t>        &lt;div&gt;</a:t>
            </a:r>
          </a:p>
          <a:p>
            <a:pPr marL="0" indent="0">
              <a:buNone/>
            </a:pPr>
            <a:r>
              <a:rPr lang="en-US" sz="4400" dirty="0"/>
              <a:t>            &lt;h1&gt;{props.user.name}&lt;/h1&gt;</a:t>
            </a:r>
          </a:p>
          <a:p>
            <a:pPr marL="0" indent="0">
              <a:buNone/>
            </a:pPr>
            <a:r>
              <a:rPr lang="en-US" sz="4400" dirty="0"/>
              <a:t>            &lt;p&gt;Age: {</a:t>
            </a:r>
            <a:r>
              <a:rPr lang="en-US" sz="4400" dirty="0" err="1"/>
              <a:t>props.user.age</a:t>
            </a:r>
            <a:r>
              <a:rPr lang="en-US" sz="4400" dirty="0"/>
              <a:t>}&lt;/p&gt;</a:t>
            </a:r>
          </a:p>
          <a:p>
            <a:pPr marL="0" indent="0">
              <a:buNone/>
            </a:pPr>
            <a:r>
              <a:rPr lang="en-US" sz="4400" dirty="0"/>
              <a:t>        &lt;/div&gt;</a:t>
            </a:r>
          </a:p>
          <a:p>
            <a:pPr marL="0" indent="0">
              <a:buNone/>
            </a:pPr>
            <a:r>
              <a:rPr lang="en-US" sz="4400" dirty="0"/>
              <a:t>    );</a:t>
            </a:r>
          </a:p>
          <a:p>
            <a:pPr marL="0" indent="0">
              <a:buNone/>
            </a:pPr>
            <a:r>
              <a:rPr lang="en-US" sz="4400" dirty="0"/>
              <a:t>}</a:t>
            </a:r>
          </a:p>
          <a:p>
            <a:pPr marL="0" indent="0">
              <a:buNone/>
            </a:pPr>
            <a:r>
              <a:rPr lang="en-US" sz="4400" dirty="0"/>
              <a:t>// Could crash if </a:t>
            </a:r>
            <a:r>
              <a:rPr lang="en-US" sz="4400" dirty="0" err="1"/>
              <a:t>props.user</a:t>
            </a:r>
            <a:r>
              <a:rPr lang="en-US" sz="4400" dirty="0"/>
              <a:t> is undefined!</a:t>
            </a:r>
          </a:p>
          <a:p>
            <a:pPr marL="0" indent="0">
              <a:buNone/>
            </a:pPr>
            <a:r>
              <a:rPr lang="en-US" sz="4000" dirty="0" smtClean="0"/>
              <a:t>// </a:t>
            </a:r>
            <a:r>
              <a:rPr lang="en-US" sz="4000" dirty="0"/>
              <a:t>Compiler guarantees </a:t>
            </a:r>
            <a:r>
              <a:rPr lang="en-US" sz="4000" dirty="0" err="1"/>
              <a:t>props.user</a:t>
            </a:r>
            <a:r>
              <a:rPr lang="en-US" sz="4000" dirty="0"/>
              <a:t> exists with correct structure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sz="5600" b="1" dirty="0"/>
              <a:t>Result:</a:t>
            </a:r>
            <a:r>
              <a:rPr lang="en-US" sz="5600" dirty="0"/>
              <a:t> Facebook reports 30% fewer production bugs in </a:t>
            </a:r>
            <a:r>
              <a:rPr lang="en-US" sz="5600" dirty="0" err="1"/>
              <a:t>TypeScript</a:t>
            </a:r>
            <a:r>
              <a:rPr lang="en-US" sz="5600" dirty="0"/>
              <a:t> React apps</a:t>
            </a:r>
          </a:p>
          <a:p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660085" y="2518119"/>
            <a:ext cx="4572000" cy="2800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100" b="1" dirty="0"/>
              <a:t>After Type Expressions (Compile-time Safety)</a:t>
            </a:r>
          </a:p>
          <a:p>
            <a:r>
              <a:rPr lang="en-US" sz="1100" dirty="0"/>
              <a:t>// </a:t>
            </a:r>
            <a:r>
              <a:rPr lang="en-US" sz="1100" dirty="0" err="1"/>
              <a:t>TypeScript</a:t>
            </a:r>
            <a:r>
              <a:rPr lang="en-US" sz="1100" dirty="0"/>
              <a:t> with React - bugs caught while coding</a:t>
            </a:r>
          </a:p>
          <a:p>
            <a:r>
              <a:rPr lang="en-US" sz="1100" dirty="0"/>
              <a:t>interface User {</a:t>
            </a:r>
          </a:p>
          <a:p>
            <a:r>
              <a:rPr lang="en-US" sz="1100" dirty="0"/>
              <a:t>    name: string;</a:t>
            </a:r>
          </a:p>
          <a:p>
            <a:r>
              <a:rPr lang="en-US" sz="1100" dirty="0"/>
              <a:t>    age: number;</a:t>
            </a:r>
          </a:p>
          <a:p>
            <a:r>
              <a:rPr lang="en-US" sz="1100" dirty="0"/>
              <a:t>    email?: string;  // Optional</a:t>
            </a:r>
          </a:p>
          <a:p>
            <a:r>
              <a:rPr lang="en-US" sz="1100" dirty="0"/>
              <a:t>}</a:t>
            </a:r>
          </a:p>
          <a:p>
            <a:r>
              <a:rPr lang="en-US" sz="1100" dirty="0"/>
              <a:t> </a:t>
            </a:r>
          </a:p>
          <a:p>
            <a:r>
              <a:rPr lang="en-US" sz="1100" dirty="0"/>
              <a:t>function </a:t>
            </a:r>
            <a:r>
              <a:rPr lang="en-US" sz="1100" dirty="0" err="1"/>
              <a:t>UserProfile</a:t>
            </a:r>
            <a:r>
              <a:rPr lang="en-US" sz="1100" dirty="0"/>
              <a:t>(props: { user: User }) {</a:t>
            </a:r>
          </a:p>
          <a:p>
            <a:r>
              <a:rPr lang="en-US" sz="1100" dirty="0"/>
              <a:t>    return (</a:t>
            </a:r>
          </a:p>
          <a:p>
            <a:r>
              <a:rPr lang="en-US" sz="1100" dirty="0"/>
              <a:t>        &lt;div&gt;</a:t>
            </a:r>
          </a:p>
          <a:p>
            <a:r>
              <a:rPr lang="en-US" sz="1100" dirty="0"/>
              <a:t>            &lt;h1&gt;{props.user.name}&lt;/h1&gt;</a:t>
            </a:r>
          </a:p>
          <a:p>
            <a:r>
              <a:rPr lang="en-US" sz="1100" dirty="0"/>
              <a:t>            &lt;p&gt;Age: {</a:t>
            </a:r>
            <a:r>
              <a:rPr lang="en-US" sz="1100" dirty="0" err="1"/>
              <a:t>props.user.age</a:t>
            </a:r>
            <a:r>
              <a:rPr lang="en-US" sz="1100" dirty="0"/>
              <a:t>}&lt;/p&gt;</a:t>
            </a:r>
          </a:p>
          <a:p>
            <a:r>
              <a:rPr lang="en-US" sz="1100" dirty="0"/>
              <a:t>        &lt;/div&gt;</a:t>
            </a:r>
          </a:p>
          <a:p>
            <a:r>
              <a:rPr lang="en-US" sz="1100" dirty="0"/>
              <a:t>    );</a:t>
            </a:r>
          </a:p>
          <a:p>
            <a:r>
              <a:rPr lang="en-US" sz="1100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en-US" b="1" u="sng" dirty="0" smtClean="0"/>
              <a:t>Key </a:t>
            </a:r>
            <a:r>
              <a:rPr lang="en-US" b="1" u="sng" dirty="0"/>
              <a:t>Takeaways</a:t>
            </a:r>
          </a:p>
          <a:p>
            <a:pPr lvl="0"/>
            <a:r>
              <a:rPr lang="en-US" b="1" dirty="0"/>
              <a:t>Type expressions</a:t>
            </a:r>
            <a:r>
              <a:rPr lang="en-US" dirty="0"/>
              <a:t> are fundamental to semantic analysis</a:t>
            </a:r>
          </a:p>
          <a:p>
            <a:pPr lvl="0"/>
            <a:r>
              <a:rPr lang="en-US" dirty="0"/>
              <a:t>They provide </a:t>
            </a:r>
            <a:r>
              <a:rPr lang="en-US" b="1" dirty="0"/>
              <a:t>abstract representations</a:t>
            </a:r>
            <a:r>
              <a:rPr lang="en-US" dirty="0"/>
              <a:t> of data types</a:t>
            </a:r>
          </a:p>
          <a:p>
            <a:pPr lvl="0"/>
            <a:r>
              <a:rPr lang="en-US" dirty="0"/>
              <a:t>Enable </a:t>
            </a:r>
            <a:r>
              <a:rPr lang="en-US" b="1" dirty="0"/>
              <a:t>static verification</a:t>
            </a:r>
            <a:r>
              <a:rPr lang="en-US" dirty="0"/>
              <a:t> of program correctness</a:t>
            </a:r>
          </a:p>
          <a:p>
            <a:pPr lvl="0"/>
            <a:r>
              <a:rPr lang="en-US" dirty="0"/>
              <a:t>Support </a:t>
            </a:r>
            <a:r>
              <a:rPr lang="en-US" b="1" dirty="0"/>
              <a:t>modern language features</a:t>
            </a:r>
            <a:r>
              <a:rPr lang="en-US" dirty="0"/>
              <a:t> like generics and polymorphism</a:t>
            </a:r>
          </a:p>
          <a:p>
            <a:pPr lvl="0"/>
            <a:r>
              <a:rPr lang="en-US" dirty="0"/>
              <a:t>Essential for </a:t>
            </a:r>
            <a:r>
              <a:rPr lang="en-US" b="1" dirty="0"/>
              <a:t>compiler optimizations</a:t>
            </a:r>
            <a:r>
              <a:rPr lang="en-US" dirty="0"/>
              <a:t> and tooling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Academic </a:t>
            </a:r>
            <a:r>
              <a:rPr lang="en-US" dirty="0"/>
              <a:t>Sources</a:t>
            </a:r>
            <a:endParaRPr lang="en-US" b="1" dirty="0"/>
          </a:p>
          <a:p>
            <a:pPr lvl="0"/>
            <a:r>
              <a:rPr lang="en-US" b="1" dirty="0" err="1"/>
              <a:t>Aho</a:t>
            </a:r>
            <a:r>
              <a:rPr lang="en-US" b="1" dirty="0"/>
              <a:t>, Lam, </a:t>
            </a:r>
            <a:r>
              <a:rPr lang="en-US" b="1" dirty="0" err="1"/>
              <a:t>Sethi</a:t>
            </a:r>
            <a:r>
              <a:rPr lang="en-US" b="1" dirty="0"/>
              <a:t> &amp; Ullman</a:t>
            </a:r>
            <a:r>
              <a:rPr lang="en-US" dirty="0"/>
              <a:t> (2006). </a:t>
            </a:r>
            <a:r>
              <a:rPr lang="en-US" i="1" dirty="0"/>
              <a:t>Compilers: Principles, Techniques, and Tools</a:t>
            </a:r>
            <a:r>
              <a:rPr lang="en-US" dirty="0"/>
              <a:t> - Chapter 6: Type Systems</a:t>
            </a:r>
          </a:p>
          <a:p>
            <a:pPr lvl="0"/>
            <a:r>
              <a:rPr lang="en-US" b="1" dirty="0"/>
              <a:t>Pierce, B. C.</a:t>
            </a:r>
            <a:r>
              <a:rPr lang="en-US" dirty="0"/>
              <a:t> (2002). </a:t>
            </a:r>
            <a:r>
              <a:rPr lang="en-US" i="1" dirty="0"/>
              <a:t>Types and Programming Languages</a:t>
            </a:r>
            <a:r>
              <a:rPr lang="en-US" dirty="0"/>
              <a:t> - MIT Press</a:t>
            </a:r>
          </a:p>
          <a:p>
            <a:r>
              <a:rPr lang="en-US" b="1" dirty="0"/>
              <a:t>Milner, R.</a:t>
            </a:r>
            <a:r>
              <a:rPr lang="en-US" dirty="0"/>
              <a:t> (1978). </a:t>
            </a:r>
            <a:r>
              <a:rPr lang="en-US" i="1" dirty="0"/>
              <a:t>A Theory of Type Polymorphism in Programming</a:t>
            </a:r>
            <a:r>
              <a:rPr lang="en-US" dirty="0"/>
              <a:t> - Journal of CSS</a:t>
            </a:r>
          </a:p>
        </p:txBody>
      </p:sp>
    </p:spTree>
    <p:extLst>
      <p:ext uri="{BB962C8B-B14F-4D97-AF65-F5344CB8AC3E}">
        <p14:creationId xmlns:p14="http://schemas.microsoft.com/office/powerpoint/2010/main" val="316153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442</TotalTime>
  <Words>685</Words>
  <Application>Microsoft Office PowerPoint</Application>
  <PresentationFormat>On-screen Show (4:3)</PresentationFormat>
  <Paragraphs>188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4" baseType="lpstr">
      <vt:lpstr>Arial</vt:lpstr>
      <vt:lpstr>Arial Narrow</vt:lpstr>
      <vt:lpstr>Calibri</vt:lpstr>
      <vt:lpstr>Calisto MT</vt:lpstr>
      <vt:lpstr>Century Gothic</vt:lpstr>
      <vt:lpstr>Consolas</vt:lpstr>
      <vt:lpstr>Courier New</vt:lpstr>
      <vt:lpstr>quote-cjk-patch</vt:lpstr>
      <vt:lpstr>Segoe UI</vt:lpstr>
      <vt:lpstr>Times New Roman</vt:lpstr>
      <vt:lpstr>Wingdings 3</vt:lpstr>
      <vt:lpstr>Ion Boardroom</vt:lpstr>
      <vt:lpstr> PRINICPLES OF COMPILER DESIGN</vt:lpstr>
      <vt:lpstr>Introduction</vt:lpstr>
      <vt:lpstr>Basic Concepts</vt:lpstr>
      <vt:lpstr>    Cont…</vt:lpstr>
      <vt:lpstr>Type Expression Grammar</vt:lpstr>
      <vt:lpstr> Type Constructors &amp;Examples </vt:lpstr>
      <vt:lpstr>Type Expressions in Different Languages</vt:lpstr>
      <vt:lpstr>Implementation in Compilers</vt:lpstr>
      <vt:lpstr>Type Checking with Type Expressions</vt:lpstr>
      <vt:lpstr>Real-World Applications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Motion Detection Using Smartphone Sensors</dc:title>
  <dc:subject/>
  <dc:creator>hp</dc:creator>
  <cp:keywords/>
  <dc:description>generated using python-pptx</dc:description>
  <cp:lastModifiedBy>hp</cp:lastModifiedBy>
  <cp:revision>28</cp:revision>
  <dcterms:created xsi:type="dcterms:W3CDTF">2013-01-27T09:14:16Z</dcterms:created>
  <dcterms:modified xsi:type="dcterms:W3CDTF">2026-01-05T18:45:20Z</dcterms:modified>
  <cp:category/>
</cp:coreProperties>
</file>